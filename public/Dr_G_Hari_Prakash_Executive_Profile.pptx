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48640"/>
            <a:ext cx="3291840" cy="5760720"/>
          </a:xfrm>
          <a:prstGeom prst="roundRect">
            <a:avLst/>
          </a:prstGeom>
          <a:solidFill>
            <a:srgbClr val="13223A"/>
          </a:solidFill>
          <a:ln w="15240">
            <a:solidFill>
              <a:srgbClr val="23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ri-prakash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822960"/>
            <a:ext cx="2011680" cy="2011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2926080"/>
            <a:ext cx="30175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Georgia"/>
              </a:rPr>
              <a:t>Dr G. Hari Prakash</a:t>
            </a:r>
          </a:p>
          <a:p>
            <a:pPr algn="ctr">
              <a:spcBef>
                <a:spcPts val="500"/>
              </a:spcBef>
            </a:pPr>
            <a:r>
              <a:rPr sz="1200" b="1">
                <a:solidFill>
                  <a:srgbClr val="40C4C4"/>
                </a:solidFill>
                <a:latin typeface="Calibri"/>
              </a:rPr>
              <a:t>Assistant Professor (Public Health)</a:t>
            </a:r>
          </a:p>
          <a:p>
            <a:pPr algn="ctr">
              <a:spcBef>
                <a:spcPts val="300"/>
              </a:spcBef>
            </a:pPr>
            <a:r>
              <a:rPr sz="1000">
                <a:solidFill>
                  <a:srgbClr val="C8D7E6"/>
                </a:solidFill>
                <a:latin typeface="Calibri"/>
              </a:rPr>
              <a:t>Ramaiah School of Public Health
MS Ramaiah Univ. of Applied Sciences, India</a:t>
            </a:r>
          </a:p>
          <a:p>
            <a:pPr algn="ctr">
              <a:spcBef>
                <a:spcPts val="600"/>
              </a:spcBef>
            </a:pPr>
            <a:r>
              <a:rPr sz="1050" b="1">
                <a:solidFill>
                  <a:srgbClr val="E6A55F"/>
                </a:solidFill>
                <a:latin typeface="Calibri"/>
              </a:rPr>
              <a:t>PhD (Public Health) · Pharm.D · MPH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617720"/>
            <a:ext cx="2560320" cy="12700"/>
          </a:xfrm>
          <a:prstGeom prst="rect">
            <a:avLst/>
          </a:prstGeom>
          <a:solidFill>
            <a:srgbClr val="2D4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709160"/>
            <a:ext cx="29260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A0B4CD"/>
                </a:solidFill>
                <a:latin typeface="Calibri"/>
              </a:rPr>
              <a:t>🌐  Website: </a:t>
            </a:r>
            <a:r>
              <a:rPr sz="950" b="1">
                <a:solidFill>
                  <a:srgbClr val="EBF5FF"/>
                </a:solidFill>
                <a:latin typeface="Calibri"/>
              </a:rPr>
              <a:t>www.drhari.co.in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A0B4CD"/>
                </a:solidFill>
                <a:latin typeface="Calibri"/>
              </a:rPr>
              <a:t>✉  Email: </a:t>
            </a:r>
            <a:r>
              <a:rPr sz="950" b="1">
                <a:solidFill>
                  <a:srgbClr val="EBF5FF"/>
                </a:solidFill>
                <a:latin typeface="Calibri"/>
              </a:rPr>
              <a:t>hariprakash607@gmail.com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A0B4CD"/>
                </a:solidFill>
                <a:latin typeface="Calibri"/>
              </a:rPr>
              <a:t>📱  Phone: </a:t>
            </a:r>
            <a:r>
              <a:rPr sz="950" b="1">
                <a:solidFill>
                  <a:srgbClr val="EBF5FF"/>
                </a:solidFill>
                <a:latin typeface="Calibri"/>
              </a:rPr>
              <a:t>+91 7306789341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A0B4CD"/>
                </a:solidFill>
                <a:latin typeface="Calibri"/>
              </a:rPr>
              <a:t>🆔  ORCID: </a:t>
            </a:r>
            <a:r>
              <a:rPr sz="950" b="1">
                <a:solidFill>
                  <a:srgbClr val="EBF5FF"/>
                </a:solidFill>
                <a:latin typeface="Calibri"/>
              </a:rPr>
              <a:t>0000-0002-9463-4084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548640"/>
            <a:ext cx="1801368" cy="1097280"/>
          </a:xfrm>
          <a:prstGeom prst="roundRect">
            <a:avLst/>
          </a:prstGeom>
          <a:solidFill>
            <a:srgbClr val="14243E"/>
          </a:solidFill>
          <a:ln w="12700">
            <a:solidFill>
              <a:srgbClr val="26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50800" rIns="50800"/>
          <a:lstStyle/>
          <a:p>
            <a:pPr algn="ctr"/>
            <a:r>
              <a:rPr sz="1800" b="1">
                <a:solidFill>
                  <a:srgbClr val="E6A55F"/>
                </a:solidFill>
                <a:latin typeface="Georgia"/>
              </a:rPr>
              <a:t>45+</a:t>
            </a:r>
          </a:p>
          <a:p>
            <a:pPr algn="ctr">
              <a:spcBef>
                <a:spcPts val="200"/>
              </a:spcBef>
            </a:pPr>
            <a:r>
              <a:rPr sz="950" b="1">
                <a:solidFill>
                  <a:srgbClr val="F0F8FF"/>
                </a:solidFill>
                <a:latin typeface="Calibri"/>
              </a:rPr>
              <a:t>Publications</a:t>
            </a:r>
          </a:p>
          <a:p>
            <a:pPr algn="ctr">
              <a:spcBef>
                <a:spcPts val="100"/>
              </a:spcBef>
            </a:pPr>
            <a:r>
              <a:rPr sz="750">
                <a:solidFill>
                  <a:srgbClr val="96AFC8"/>
                </a:solidFill>
                <a:latin typeface="Calibri"/>
              </a:rPr>
              <a:t>Peer-reviewed papers (IF up to 56.7)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548640"/>
            <a:ext cx="1801368" cy="1097280"/>
          </a:xfrm>
          <a:prstGeom prst="roundRect">
            <a:avLst/>
          </a:prstGeom>
          <a:solidFill>
            <a:srgbClr val="14243E"/>
          </a:solidFill>
          <a:ln w="12700">
            <a:solidFill>
              <a:srgbClr val="26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50800" rIns="50800"/>
          <a:lstStyle/>
          <a:p>
            <a:pPr algn="ctr"/>
            <a:r>
              <a:rPr sz="1800" b="1">
                <a:solidFill>
                  <a:srgbClr val="E6A55F"/>
                </a:solidFill>
                <a:latin typeface="Georgia"/>
              </a:rPr>
              <a:t>10+</a:t>
            </a:r>
          </a:p>
          <a:p>
            <a:pPr algn="ctr">
              <a:spcBef>
                <a:spcPts val="200"/>
              </a:spcBef>
            </a:pPr>
            <a:r>
              <a:rPr sz="950" b="1">
                <a:solidFill>
                  <a:srgbClr val="F0F8FF"/>
                </a:solidFill>
                <a:latin typeface="Calibri"/>
              </a:rPr>
              <a:t>Digital Health Tools</a:t>
            </a:r>
          </a:p>
          <a:p>
            <a:pPr algn="ctr">
              <a:spcBef>
                <a:spcPts val="100"/>
              </a:spcBef>
            </a:pPr>
            <a:r>
              <a:rPr sz="750">
                <a:solidFill>
                  <a:srgbClr val="96AFC8"/>
                </a:solidFill>
                <a:latin typeface="Calibri"/>
              </a:rPr>
              <a:t>Deployed platforms (Onco Care, Vichara)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548640"/>
            <a:ext cx="1801368" cy="1097280"/>
          </a:xfrm>
          <a:prstGeom prst="roundRect">
            <a:avLst/>
          </a:prstGeom>
          <a:solidFill>
            <a:srgbClr val="14243E"/>
          </a:solidFill>
          <a:ln w="12700">
            <a:solidFill>
              <a:srgbClr val="26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50800" rIns="50800"/>
          <a:lstStyle/>
          <a:p>
            <a:pPr algn="ctr"/>
            <a:r>
              <a:rPr sz="1800" b="1">
                <a:solidFill>
                  <a:srgbClr val="E6A55F"/>
                </a:solidFill>
                <a:latin typeface="Georgia"/>
              </a:rPr>
              <a:t>1</a:t>
            </a:r>
          </a:p>
          <a:p>
            <a:pPr algn="ctr">
              <a:spcBef>
                <a:spcPts val="200"/>
              </a:spcBef>
            </a:pPr>
            <a:r>
              <a:rPr sz="950" b="1">
                <a:solidFill>
                  <a:srgbClr val="F0F8FF"/>
                </a:solidFill>
                <a:latin typeface="Calibri"/>
              </a:rPr>
              <a:t>Patent Published</a:t>
            </a:r>
          </a:p>
          <a:p>
            <a:pPr algn="ctr">
              <a:spcBef>
                <a:spcPts val="100"/>
              </a:spcBef>
            </a:pPr>
            <a:r>
              <a:rPr sz="750">
                <a:solidFill>
                  <a:srgbClr val="96AFC8"/>
                </a:solidFill>
                <a:latin typeface="Calibri"/>
              </a:rPr>
              <a:t>Medical Technology device patent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12680" y="548640"/>
            <a:ext cx="1801368" cy="1097280"/>
          </a:xfrm>
          <a:prstGeom prst="roundRect">
            <a:avLst/>
          </a:prstGeom>
          <a:solidFill>
            <a:srgbClr val="14243E"/>
          </a:solidFill>
          <a:ln w="12700">
            <a:solidFill>
              <a:srgbClr val="26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50800" rIns="50800"/>
          <a:lstStyle/>
          <a:p>
            <a:pPr algn="ctr"/>
            <a:r>
              <a:rPr sz="1600" b="1">
                <a:solidFill>
                  <a:srgbClr val="E6A55F"/>
                </a:solidFill>
                <a:latin typeface="Georgia"/>
              </a:rPr>
              <a:t>ESMO / JSMO</a:t>
            </a:r>
          </a:p>
          <a:p>
            <a:pPr algn="ctr">
              <a:spcBef>
                <a:spcPts val="200"/>
              </a:spcBef>
            </a:pPr>
            <a:r>
              <a:rPr sz="950" b="1">
                <a:solidFill>
                  <a:srgbClr val="F0F8FF"/>
                </a:solidFill>
                <a:latin typeface="Calibri"/>
              </a:rPr>
              <a:t>International Awards</a:t>
            </a:r>
          </a:p>
          <a:p>
            <a:pPr algn="ctr">
              <a:spcBef>
                <a:spcPts val="100"/>
              </a:spcBef>
            </a:pPr>
            <a:r>
              <a:rPr sz="750">
                <a:solidFill>
                  <a:srgbClr val="96AFC8"/>
                </a:solidFill>
                <a:latin typeface="Calibri"/>
              </a:rPr>
              <a:t>Travel Grants (Europe &amp; Japan)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1828800"/>
            <a:ext cx="3721608" cy="2926080"/>
          </a:xfrm>
          <a:prstGeom prst="roundRect">
            <a:avLst/>
          </a:prstGeom>
          <a:solidFill>
            <a:srgbClr val="122138"/>
          </a:solidFill>
          <a:ln w="12700">
            <a:solidFill>
              <a:srgbClr val="20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201168" rIns="201168" bIns="164592"/>
          <a:lstStyle/>
          <a:p>
            <a:pPr algn="ctr"/>
            <a:r>
              <a:rPr sz="1100" b="1">
                <a:solidFill>
                  <a:srgbClr val="40C4C4"/>
                </a:solidFill>
                <a:latin typeface="Calibri"/>
              </a:rPr>
              <a:t>RESEARCH &amp; INNOVATION FOCUS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EBF5FF"/>
                </a:solidFill>
                <a:latin typeface="Calibri"/>
              </a:rPr>
              <a:t>▪  Digital Health &amp; mHealth Interventions: </a:t>
            </a:r>
            <a:r>
              <a:rPr sz="900">
                <a:solidFill>
                  <a:srgbClr val="AFC3DC"/>
                </a:solidFill>
                <a:latin typeface="Calibri"/>
              </a:rPr>
              <a:t>User-centred co-design, psychometric scales, symptom tracking &amp; patient adherence platforms.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EBF5FF"/>
                </a:solidFill>
                <a:latin typeface="Calibri"/>
              </a:rPr>
              <a:t>▪  Oncology Care Delivery: </a:t>
            </a:r>
            <a:r>
              <a:rPr sz="900">
                <a:solidFill>
                  <a:srgbClr val="AFC3DC"/>
                </a:solidFill>
                <a:latin typeface="Calibri"/>
              </a:rPr>
              <a:t>Scalable mHealth interventions to reduce cancer care disparities in low- &amp; middle-income settings.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EBF5FF"/>
                </a:solidFill>
                <a:latin typeface="Calibri"/>
              </a:rPr>
              <a:t>▪  Health Technology Assessment (HTA): </a:t>
            </a:r>
            <a:r>
              <a:rPr sz="900">
                <a:solidFill>
                  <a:srgbClr val="AFC3DC"/>
                </a:solidFill>
                <a:latin typeface="Calibri"/>
              </a:rPr>
              <a:t>Cost-effectiveness, health economic modelling, and technology appraisal.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EBF5FF"/>
                </a:solidFill>
                <a:latin typeface="Calibri"/>
              </a:rPr>
              <a:t>▪  Implementation Science &amp; AI for Health: </a:t>
            </a:r>
            <a:r>
              <a:rPr sz="900">
                <a:solidFill>
                  <a:srgbClr val="AFC3DC"/>
                </a:solidFill>
                <a:latin typeface="Calibri"/>
              </a:rPr>
              <a:t>Machine-learning decision support, quasi-experimental &amp; target trial emulation methods.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828800"/>
            <a:ext cx="3721608" cy="2926080"/>
          </a:xfrm>
          <a:prstGeom prst="roundRect">
            <a:avLst/>
          </a:prstGeom>
          <a:solidFill>
            <a:srgbClr val="122138"/>
          </a:solidFill>
          <a:ln w="12700">
            <a:solidFill>
              <a:srgbClr val="20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201168" rIns="201168" bIns="164592"/>
          <a:lstStyle/>
          <a:p>
            <a:pPr algn="ctr"/>
            <a:r>
              <a:rPr sz="1100" b="1">
                <a:solidFill>
                  <a:srgbClr val="40C4C4"/>
                </a:solidFill>
                <a:latin typeface="Calibri"/>
              </a:rPr>
              <a:t>ACADEMIC &amp; PROFESSIONAL ROLES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EBF5FF"/>
                </a:solidFill>
                <a:latin typeface="Calibri"/>
              </a:rPr>
              <a:t>▪  Assistant Professor (Public Health)</a:t>
            </a:r>
          </a:p>
          <a:p>
            <a:r>
              <a:rPr sz="850" b="1">
                <a:solidFill>
                  <a:srgbClr val="E6A55F"/>
                </a:solidFill>
                <a:latin typeface="Calibri"/>
              </a:rPr>
              <a:t>   Ramaiah School of Public Health, MSRUAS (2025–Present)</a:t>
            </a:r>
          </a:p>
          <a:p>
            <a:r>
              <a:rPr sz="850">
                <a:solidFill>
                  <a:srgbClr val="AFC3DC"/>
                </a:solidFill>
                <a:latin typeface="Calibri"/>
              </a:rPr>
              <a:t>   Teaching MPH programme: Research Methodology, Biostatistics, Technology in Public Health, and NCDs.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EBF5FF"/>
                </a:solidFill>
                <a:latin typeface="Calibri"/>
              </a:rPr>
              <a:t>▪  Scientist-D / Senior Research Officer</a:t>
            </a:r>
          </a:p>
          <a:p>
            <a:r>
              <a:rPr sz="850" b="1">
                <a:solidFill>
                  <a:srgbClr val="E6A55F"/>
                </a:solidFill>
                <a:latin typeface="Calibri"/>
              </a:rPr>
              <a:t>   PGIMER, Chandigarh (Nov 2024–Jul 2025)</a:t>
            </a:r>
          </a:p>
          <a:p>
            <a:r>
              <a:rPr sz="850">
                <a:solidFill>
                  <a:srgbClr val="AFC3DC"/>
                </a:solidFill>
                <a:latin typeface="Calibri"/>
              </a:rPr>
              <a:t>   Involved in developing online Health Technology Assessment (HTA) course.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EBF5FF"/>
                </a:solidFill>
                <a:latin typeface="Calibri"/>
              </a:rPr>
              <a:t>▪  Field Investigator</a:t>
            </a:r>
          </a:p>
          <a:p>
            <a:r>
              <a:rPr sz="850" b="1">
                <a:solidFill>
                  <a:srgbClr val="E6A55F"/>
                </a:solidFill>
                <a:latin typeface="Calibri"/>
              </a:rPr>
              <a:t>   World Health Organization (WHO) / JSS Medical College</a:t>
            </a:r>
          </a:p>
          <a:p>
            <a:r>
              <a:rPr sz="850">
                <a:solidFill>
                  <a:srgbClr val="AFC3DC"/>
                </a:solidFill>
                <a:latin typeface="Calibri"/>
              </a:rPr>
              <a:t>   Multi-centre clinical trial on oxygen &amp; respiratory support in COVID-19 in LMICs.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4919472"/>
            <a:ext cx="7699248" cy="1389888"/>
          </a:xfrm>
          <a:prstGeom prst="roundRect">
            <a:avLst/>
          </a:prstGeom>
          <a:solidFill>
            <a:srgbClr val="122138"/>
          </a:solidFill>
          <a:ln w="12700">
            <a:solidFill>
              <a:srgbClr val="20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8016" lIns="201168" rIns="201168" bIns="109728"/>
          <a:lstStyle/>
          <a:p>
            <a:pPr algn="ctr"/>
            <a:r>
              <a:rPr sz="1050" b="1">
                <a:solidFill>
                  <a:srgbClr val="40C4C4"/>
                </a:solidFill>
                <a:latin typeface="Calibri"/>
              </a:rPr>
              <a:t>EDITORIAL APPOINTMENTS &amp; INTERNATIONAL AFFILIATIONS</a:t>
            </a:r>
          </a:p>
          <a:p>
            <a:pPr>
              <a:spcBef>
                <a:spcPts val="400"/>
              </a:spcBef>
            </a:pPr>
            <a:r>
              <a:rPr sz="919" b="1">
                <a:solidFill>
                  <a:srgbClr val="EBF5FF"/>
                </a:solidFill>
                <a:latin typeface="Calibri"/>
              </a:rPr>
              <a:t>• Associate Editor: </a:t>
            </a:r>
            <a:r>
              <a:rPr sz="919">
                <a:solidFill>
                  <a:srgbClr val="B9CDE6"/>
                </a:solidFill>
                <a:latin typeface="Calibri"/>
              </a:rPr>
              <a:t>Archives of Public Health (BMC / Springer Nature)   |   Clinical Epidemiology and Global Health (Elsevier)</a:t>
            </a:r>
          </a:p>
          <a:p>
            <a:pPr>
              <a:spcBef>
                <a:spcPts val="300"/>
              </a:spcBef>
            </a:pPr>
            <a:r>
              <a:rPr sz="919" b="1">
                <a:solidFill>
                  <a:srgbClr val="EBF5FF"/>
                </a:solidFill>
                <a:latin typeface="Calibri"/>
              </a:rPr>
              <a:t>• Professional Memberships: </a:t>
            </a:r>
            <a:r>
              <a:rPr sz="919">
                <a:solidFill>
                  <a:srgbClr val="B9CDE6"/>
                </a:solidFill>
                <a:latin typeface="Calibri"/>
              </a:rPr>
              <a:t>European Society of Medical Oncology (ESMO)   |   ESMO &amp; JSMO Travel Fellowship Awardee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48640"/>
            <a:ext cx="3291840" cy="5760720"/>
          </a:xfrm>
          <a:prstGeom prst="roundRect">
            <a:avLst/>
          </a:prstGeom>
          <a:solidFill>
            <a:srgbClr val="0F2340"/>
          </a:solidFill>
          <a:ln w="19050">
            <a:solidFill>
              <a:srgbClr val="1A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ri-prakash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822960"/>
            <a:ext cx="2011680" cy="2011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2926080"/>
            <a:ext cx="30175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Georgia"/>
              </a:rPr>
              <a:t>Dr G. Hari Prakash</a:t>
            </a:r>
          </a:p>
          <a:p>
            <a:pPr algn="ctr">
              <a:spcBef>
                <a:spcPts val="500"/>
              </a:spcBef>
            </a:pPr>
            <a:r>
              <a:rPr sz="1200" b="1">
                <a:solidFill>
                  <a:srgbClr val="50D2D2"/>
                </a:solidFill>
                <a:latin typeface="Calibri"/>
              </a:rPr>
              <a:t>Assistant Professor (Public Health)</a:t>
            </a:r>
          </a:p>
          <a:p>
            <a:pPr algn="ctr">
              <a:spcBef>
                <a:spcPts val="300"/>
              </a:spcBef>
            </a:pPr>
            <a:r>
              <a:rPr sz="1000">
                <a:solidFill>
                  <a:srgbClr val="DCE6F5"/>
                </a:solidFill>
                <a:latin typeface="Calibri"/>
              </a:rPr>
              <a:t>Ramaiah School of Public Health
MS Ramaiah Univ. of Applied Sciences, India</a:t>
            </a:r>
          </a:p>
          <a:p>
            <a:pPr algn="ctr">
              <a:spcBef>
                <a:spcPts val="600"/>
              </a:spcBef>
            </a:pPr>
            <a:r>
              <a:rPr sz="1050" b="1">
                <a:solidFill>
                  <a:srgbClr val="EBAF6E"/>
                </a:solidFill>
                <a:latin typeface="Calibri"/>
              </a:rPr>
              <a:t>PhD (Public Health) · Pharm.D · MPH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617720"/>
            <a:ext cx="2560320" cy="12700"/>
          </a:xfrm>
          <a:prstGeom prst="rect">
            <a:avLst/>
          </a:prstGeom>
          <a:solidFill>
            <a:srgbClr val="28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709160"/>
            <a:ext cx="29260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AABED7"/>
                </a:solidFill>
                <a:latin typeface="Calibri"/>
              </a:rPr>
              <a:t>🌐  Website: </a:t>
            </a:r>
            <a:r>
              <a:rPr sz="950" b="1">
                <a:solidFill>
                  <a:srgbClr val="F5FAFF"/>
                </a:solidFill>
                <a:latin typeface="Calibri"/>
              </a:rPr>
              <a:t>www.drhari.co.in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AABED7"/>
                </a:solidFill>
                <a:latin typeface="Calibri"/>
              </a:rPr>
              <a:t>✉  Email: </a:t>
            </a:r>
            <a:r>
              <a:rPr sz="950" b="1">
                <a:solidFill>
                  <a:srgbClr val="F5FAFF"/>
                </a:solidFill>
                <a:latin typeface="Calibri"/>
              </a:rPr>
              <a:t>hariprakash607@gmail.com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AABED7"/>
                </a:solidFill>
                <a:latin typeface="Calibri"/>
              </a:rPr>
              <a:t>📱  Phone: </a:t>
            </a:r>
            <a:r>
              <a:rPr sz="950" b="1">
                <a:solidFill>
                  <a:srgbClr val="F5FAFF"/>
                </a:solidFill>
                <a:latin typeface="Calibri"/>
              </a:rPr>
              <a:t>+91 7306789341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AABED7"/>
                </a:solidFill>
                <a:latin typeface="Calibri"/>
              </a:rPr>
              <a:t>🆔  ORCID: </a:t>
            </a:r>
            <a:r>
              <a:rPr sz="950" b="1">
                <a:solidFill>
                  <a:srgbClr val="F5FAFF"/>
                </a:solidFill>
                <a:latin typeface="Calibri"/>
              </a:rPr>
              <a:t>0000-0002-9463-4084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548640"/>
            <a:ext cx="1801368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50800" rIns="50800"/>
          <a:lstStyle/>
          <a:p>
            <a:pPr algn="ctr"/>
            <a:r>
              <a:rPr sz="1800" b="1">
                <a:solidFill>
                  <a:srgbClr val="C47C3E"/>
                </a:solidFill>
                <a:latin typeface="Georgia"/>
              </a:rPr>
              <a:t>45+</a:t>
            </a:r>
          </a:p>
          <a:p>
            <a:pPr algn="ctr">
              <a:spcBef>
                <a:spcPts val="200"/>
              </a:spcBef>
            </a:pPr>
            <a:r>
              <a:rPr sz="950" b="1">
                <a:solidFill>
                  <a:srgbClr val="0F2340"/>
                </a:solidFill>
                <a:latin typeface="Calibri"/>
              </a:rPr>
              <a:t>Publications</a:t>
            </a:r>
          </a:p>
          <a:p>
            <a:pPr algn="ctr">
              <a:spcBef>
                <a:spcPts val="100"/>
              </a:spcBef>
            </a:pPr>
            <a:r>
              <a:rPr sz="750">
                <a:solidFill>
                  <a:srgbClr val="647387"/>
                </a:solidFill>
                <a:latin typeface="Calibri"/>
              </a:rPr>
              <a:t>Peer-reviewed papers (IF up to 56.7)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548640"/>
            <a:ext cx="1801368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50800" rIns="50800"/>
          <a:lstStyle/>
          <a:p>
            <a:pPr algn="ctr"/>
            <a:r>
              <a:rPr sz="1800" b="1">
                <a:solidFill>
                  <a:srgbClr val="C47C3E"/>
                </a:solidFill>
                <a:latin typeface="Georgia"/>
              </a:rPr>
              <a:t>10+</a:t>
            </a:r>
          </a:p>
          <a:p>
            <a:pPr algn="ctr">
              <a:spcBef>
                <a:spcPts val="200"/>
              </a:spcBef>
            </a:pPr>
            <a:r>
              <a:rPr sz="950" b="1">
                <a:solidFill>
                  <a:srgbClr val="0F2340"/>
                </a:solidFill>
                <a:latin typeface="Calibri"/>
              </a:rPr>
              <a:t>Digital Health Tools</a:t>
            </a:r>
          </a:p>
          <a:p>
            <a:pPr algn="ctr">
              <a:spcBef>
                <a:spcPts val="100"/>
              </a:spcBef>
            </a:pPr>
            <a:r>
              <a:rPr sz="750">
                <a:solidFill>
                  <a:srgbClr val="647387"/>
                </a:solidFill>
                <a:latin typeface="Calibri"/>
              </a:rPr>
              <a:t>Deployed platforms (Onco Care, Vichara)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548640"/>
            <a:ext cx="1801368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50800" rIns="50800"/>
          <a:lstStyle/>
          <a:p>
            <a:pPr algn="ctr"/>
            <a:r>
              <a:rPr sz="1800" b="1">
                <a:solidFill>
                  <a:srgbClr val="C47C3E"/>
                </a:solidFill>
                <a:latin typeface="Georgia"/>
              </a:rPr>
              <a:t>1</a:t>
            </a:r>
          </a:p>
          <a:p>
            <a:pPr algn="ctr">
              <a:spcBef>
                <a:spcPts val="200"/>
              </a:spcBef>
            </a:pPr>
            <a:r>
              <a:rPr sz="950" b="1">
                <a:solidFill>
                  <a:srgbClr val="0F2340"/>
                </a:solidFill>
                <a:latin typeface="Calibri"/>
              </a:rPr>
              <a:t>Patent Published</a:t>
            </a:r>
          </a:p>
          <a:p>
            <a:pPr algn="ctr">
              <a:spcBef>
                <a:spcPts val="100"/>
              </a:spcBef>
            </a:pPr>
            <a:r>
              <a:rPr sz="750">
                <a:solidFill>
                  <a:srgbClr val="647387"/>
                </a:solidFill>
                <a:latin typeface="Calibri"/>
              </a:rPr>
              <a:t>Medical Technology device patent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12680" y="548640"/>
            <a:ext cx="1801368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50800" rIns="50800"/>
          <a:lstStyle/>
          <a:p>
            <a:pPr algn="ctr"/>
            <a:r>
              <a:rPr sz="1600" b="1">
                <a:solidFill>
                  <a:srgbClr val="C47C3E"/>
                </a:solidFill>
                <a:latin typeface="Georgia"/>
              </a:rPr>
              <a:t>ESMO / JSMO</a:t>
            </a:r>
          </a:p>
          <a:p>
            <a:pPr algn="ctr">
              <a:spcBef>
                <a:spcPts val="200"/>
              </a:spcBef>
            </a:pPr>
            <a:r>
              <a:rPr sz="950" b="1">
                <a:solidFill>
                  <a:srgbClr val="0F2340"/>
                </a:solidFill>
                <a:latin typeface="Calibri"/>
              </a:rPr>
              <a:t>International Awards</a:t>
            </a:r>
          </a:p>
          <a:p>
            <a:pPr algn="ctr">
              <a:spcBef>
                <a:spcPts val="100"/>
              </a:spcBef>
            </a:pPr>
            <a:r>
              <a:rPr sz="750">
                <a:solidFill>
                  <a:srgbClr val="647387"/>
                </a:solidFill>
                <a:latin typeface="Calibri"/>
              </a:rPr>
              <a:t>Travel Grants (Europe &amp; Japan)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1828800"/>
            <a:ext cx="3721608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201168" rIns="201168" bIns="164592"/>
          <a:lstStyle/>
          <a:p>
            <a:pPr algn="ctr"/>
            <a:r>
              <a:rPr sz="1100" b="1">
                <a:solidFill>
                  <a:srgbClr val="1A6B6B"/>
                </a:solidFill>
                <a:latin typeface="Calibri"/>
              </a:rPr>
              <a:t>RESEARCH &amp; INNOVATION FOCUS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2340"/>
                </a:solidFill>
                <a:latin typeface="Calibri"/>
              </a:rPr>
              <a:t>▪  Digital Health &amp; mHealth Interventions: </a:t>
            </a:r>
            <a:r>
              <a:rPr sz="900">
                <a:solidFill>
                  <a:srgbClr val="555F73"/>
                </a:solidFill>
                <a:latin typeface="Calibri"/>
              </a:rPr>
              <a:t>User-centred co-design, psychometric scales, symptom tracking &amp; patient adherence platforms.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2340"/>
                </a:solidFill>
                <a:latin typeface="Calibri"/>
              </a:rPr>
              <a:t>▪  Oncology Care Delivery: </a:t>
            </a:r>
            <a:r>
              <a:rPr sz="900">
                <a:solidFill>
                  <a:srgbClr val="555F73"/>
                </a:solidFill>
                <a:latin typeface="Calibri"/>
              </a:rPr>
              <a:t>Scalable mHealth interventions to reduce cancer care disparities in low- &amp; middle-income settings.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2340"/>
                </a:solidFill>
                <a:latin typeface="Calibri"/>
              </a:rPr>
              <a:t>▪  Health Technology Assessment (HTA): </a:t>
            </a:r>
            <a:r>
              <a:rPr sz="900">
                <a:solidFill>
                  <a:srgbClr val="555F73"/>
                </a:solidFill>
                <a:latin typeface="Calibri"/>
              </a:rPr>
              <a:t>Cost-effectiveness, health economic modelling, and technology appraisal.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2340"/>
                </a:solidFill>
                <a:latin typeface="Calibri"/>
              </a:rPr>
              <a:t>▪  Implementation Science &amp; AI for Health: </a:t>
            </a:r>
            <a:r>
              <a:rPr sz="900">
                <a:solidFill>
                  <a:srgbClr val="555F73"/>
                </a:solidFill>
                <a:latin typeface="Calibri"/>
              </a:rPr>
              <a:t>Machine-learning decision support, quasi-experimental &amp; target trial emulation methods.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828800"/>
            <a:ext cx="3721608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201168" rIns="201168" bIns="164592"/>
          <a:lstStyle/>
          <a:p>
            <a:pPr algn="ctr"/>
            <a:r>
              <a:rPr sz="1100" b="1">
                <a:solidFill>
                  <a:srgbClr val="1A6B6B"/>
                </a:solidFill>
                <a:latin typeface="Calibri"/>
              </a:rPr>
              <a:t>ACADEMIC &amp; PROFESSIONAL ROLES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2340"/>
                </a:solidFill>
                <a:latin typeface="Calibri"/>
              </a:rPr>
              <a:t>▪  Assistant Professor (Public Health)</a:t>
            </a:r>
          </a:p>
          <a:p>
            <a:r>
              <a:rPr sz="850" b="1">
                <a:solidFill>
                  <a:srgbClr val="C47C3E"/>
                </a:solidFill>
                <a:latin typeface="Calibri"/>
              </a:rPr>
              <a:t>   Ramaiah School of Public Health, MSRUAS (2025–Present)</a:t>
            </a:r>
          </a:p>
          <a:p>
            <a:r>
              <a:rPr sz="850">
                <a:solidFill>
                  <a:srgbClr val="555F73"/>
                </a:solidFill>
                <a:latin typeface="Calibri"/>
              </a:rPr>
              <a:t>   Teaching MPH programme: Research Methodology, Biostatistics, Technology in Public Health, and NCDs.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2340"/>
                </a:solidFill>
                <a:latin typeface="Calibri"/>
              </a:rPr>
              <a:t>▪  Scientist-D / Senior Research Officer</a:t>
            </a:r>
          </a:p>
          <a:p>
            <a:r>
              <a:rPr sz="850" b="1">
                <a:solidFill>
                  <a:srgbClr val="C47C3E"/>
                </a:solidFill>
                <a:latin typeface="Calibri"/>
              </a:rPr>
              <a:t>   PGIMER, Chandigarh (Nov 2024–Jul 2025)</a:t>
            </a:r>
          </a:p>
          <a:p>
            <a:r>
              <a:rPr sz="850">
                <a:solidFill>
                  <a:srgbClr val="555F73"/>
                </a:solidFill>
                <a:latin typeface="Calibri"/>
              </a:rPr>
              <a:t>   Involved in developing online Health Technology Assessment (HTA) course.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2340"/>
                </a:solidFill>
                <a:latin typeface="Calibri"/>
              </a:rPr>
              <a:t>▪  Field Investigator</a:t>
            </a:r>
          </a:p>
          <a:p>
            <a:r>
              <a:rPr sz="850" b="1">
                <a:solidFill>
                  <a:srgbClr val="C47C3E"/>
                </a:solidFill>
                <a:latin typeface="Calibri"/>
              </a:rPr>
              <a:t>   World Health Organization (WHO) / JSS Medical College</a:t>
            </a:r>
          </a:p>
          <a:p>
            <a:r>
              <a:rPr sz="850">
                <a:solidFill>
                  <a:srgbClr val="555F73"/>
                </a:solidFill>
                <a:latin typeface="Calibri"/>
              </a:rPr>
              <a:t>   Multi-centre clinical trial on oxygen &amp; respiratory support in COVID-19 in LMICs.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4919472"/>
            <a:ext cx="7699248" cy="13898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8016" lIns="201168" rIns="201168" bIns="109728"/>
          <a:lstStyle/>
          <a:p>
            <a:pPr algn="ctr"/>
            <a:r>
              <a:rPr sz="1050" b="1">
                <a:solidFill>
                  <a:srgbClr val="1A6B6B"/>
                </a:solidFill>
                <a:latin typeface="Calibri"/>
              </a:rPr>
              <a:t>EDITORIAL APPOINTMENTS &amp; INTERNATIONAL AFFILIATIONS</a:t>
            </a:r>
          </a:p>
          <a:p>
            <a:pPr>
              <a:spcBef>
                <a:spcPts val="400"/>
              </a:spcBef>
            </a:pPr>
            <a:r>
              <a:rPr sz="919" b="1">
                <a:solidFill>
                  <a:srgbClr val="0F2340"/>
                </a:solidFill>
                <a:latin typeface="Calibri"/>
              </a:rPr>
              <a:t>• Associate Editor: </a:t>
            </a:r>
            <a:r>
              <a:rPr sz="919">
                <a:solidFill>
                  <a:srgbClr val="555F73"/>
                </a:solidFill>
                <a:latin typeface="Calibri"/>
              </a:rPr>
              <a:t>Archives of Public Health (BMC / Springer Nature)   |   Clinical Epidemiology and Global Health (Elsevier)</a:t>
            </a:r>
          </a:p>
          <a:p>
            <a:pPr>
              <a:spcBef>
                <a:spcPts val="300"/>
              </a:spcBef>
            </a:pPr>
            <a:r>
              <a:rPr sz="919" b="1">
                <a:solidFill>
                  <a:srgbClr val="0F2340"/>
                </a:solidFill>
                <a:latin typeface="Calibri"/>
              </a:rPr>
              <a:t>• Professional Memberships: </a:t>
            </a:r>
            <a:r>
              <a:rPr sz="919">
                <a:solidFill>
                  <a:srgbClr val="555F73"/>
                </a:solidFill>
                <a:latin typeface="Calibri"/>
              </a:rPr>
              <a:t>European Society of Medical Oncology (ESMO)   |   ESMO &amp; JSMO Travel Fellowship Awardee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